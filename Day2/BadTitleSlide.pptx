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hape 15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58" name="Shape 15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/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12" name="Presentation Title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13" name="Body Level One…"/>
          <p:cNvSpPr txBox="1"/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666699290_02_crop_3159x1892.jpg"/>
          <p:cNvSpPr/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2" name="Presentation Title"/>
          <p:cNvSpPr txBox="1"/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23" name="Author and Date"/>
          <p:cNvSpPr txBox="1"/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24" name="Body Level One…"/>
          <p:cNvSpPr txBox="1"/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910457886_1434x1669.jpg"/>
          <p:cNvSpPr/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3" name="Slide Title"/>
          <p:cNvSpPr txBox="1"/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pPr/>
            <a:r>
              <a:t>Slide Title</a:t>
            </a:r>
          </a:p>
        </p:txBody>
      </p:sp>
      <p:sp>
        <p:nvSpPr>
          <p:cNvPr id="34" name="Body Level One…"/>
          <p:cNvSpPr txBox="1"/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43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44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61" name="Body Level One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2" name="660384004_1290x1720.jpg"/>
          <p:cNvSpPr/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6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ection Title"/>
          <p:cNvSpPr txBox="1"/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b="0"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Section Title</a:t>
            </a:r>
          </a:p>
        </p:txBody>
      </p:sp>
      <p:sp>
        <p:nvSpPr>
          <p:cNvPr id="72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>
            <a:lvl1pPr>
              <a:defRPr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80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4200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8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Agenda Title"/>
          <p:cNvSpPr txBox="1"/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pPr/>
            <a:r>
              <a:t>Agenda Title</a:t>
            </a:r>
          </a:p>
        </p:txBody>
      </p:sp>
      <p:sp>
        <p:nvSpPr>
          <p:cNvPr id="89" name="Agenda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Agenda Subtitle</a:t>
            </a:r>
          </a:p>
        </p:txBody>
      </p:sp>
      <p:sp>
        <p:nvSpPr>
          <p:cNvPr id="90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5pPr>
          </a:lstStyle>
          <a:p>
            <a:pPr/>
            <a:r>
              <a:t>Agenda Topics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Body Level One…"/>
          <p:cNvSpPr txBox="1"/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Statement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Body Level One…"/>
          <p:cNvSpPr txBox="1"/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5pPr>
          </a:lstStyle>
          <a:p>
            <a:pPr/>
            <a:r>
              <a:t>100%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07" name="Fact information"/>
          <p:cNvSpPr txBox="1"/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Fact information</a:t>
            </a:r>
          </a:p>
        </p:txBody>
      </p:sp>
      <p:sp>
        <p:nvSpPr>
          <p:cNvPr id="10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Attribution"/>
          <p:cNvSpPr txBox="1"/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Attribution</a:t>
            </a:r>
          </a:p>
        </p:txBody>
      </p:sp>
      <p:sp>
        <p:nvSpPr>
          <p:cNvPr id="116" name="Body Level One…"/>
          <p:cNvSpPr txBox="1"/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“Notable Quote”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Image"/>
          <p:cNvSpPr/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5" name="Image"/>
          <p:cNvSpPr/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6" name="Image"/>
          <p:cNvSpPr/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Image"/>
          <p:cNvSpPr/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Subtitle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itle Text"/>
          <p:cNvSpPr txBox="1"/>
          <p:nvPr>
            <p:ph type="title"/>
          </p:nvPr>
        </p:nvSpPr>
        <p:spPr>
          <a:xfrm>
            <a:off x="4833937" y="2303859"/>
            <a:ext cx="14716126" cy="4643438"/>
          </a:xfrm>
          <a:prstGeom prst="rect">
            <a:avLst/>
          </a:prstGeom>
        </p:spPr>
        <p:txBody>
          <a:bodyPr lIns="71437" tIns="71437" rIns="71437" bIns="71437" anchor="b"/>
          <a:lstStyle>
            <a:lvl1pPr algn="ctr" defTabSz="821531">
              <a:lnSpc>
                <a:spcPct val="100000"/>
              </a:lnSpc>
              <a:defRPr b="0" spc="0" sz="11200">
                <a:solidFill>
                  <a:srgbClr val="497D7A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50" name="Body Level One…"/>
          <p:cNvSpPr txBox="1"/>
          <p:nvPr>
            <p:ph type="body" sz="quarter" idx="1"/>
          </p:nvPr>
        </p:nvSpPr>
        <p:spPr>
          <a:xfrm>
            <a:off x="4833937" y="7072312"/>
            <a:ext cx="14716126" cy="1589485"/>
          </a:xfrm>
          <a:prstGeom prst="rect">
            <a:avLst/>
          </a:prstGeom>
        </p:spPr>
        <p:txBody>
          <a:bodyPr lIns="71437" tIns="71437" rIns="71437" bIns="71437"/>
          <a:lstStyle>
            <a:lvl1pPr marL="0" indent="0" algn="ctr" defTabSz="821531">
              <a:lnSpc>
                <a:spcPct val="100000"/>
              </a:lnSpc>
              <a:spcBef>
                <a:spcPts val="0"/>
              </a:spcBef>
              <a:buSzTx/>
              <a:buNone/>
              <a:defRPr sz="4400">
                <a:solidFill>
                  <a:srgbClr val="497D7A"/>
                </a:solidFill>
              </a:defRPr>
            </a:lvl1pPr>
            <a:lvl2pPr marL="0" indent="228600" algn="ctr" defTabSz="821531">
              <a:lnSpc>
                <a:spcPct val="100000"/>
              </a:lnSpc>
              <a:spcBef>
                <a:spcPts val="0"/>
              </a:spcBef>
              <a:buSzTx/>
              <a:buNone/>
              <a:defRPr sz="4400">
                <a:solidFill>
                  <a:srgbClr val="497D7A"/>
                </a:solidFill>
              </a:defRPr>
            </a:lvl2pPr>
            <a:lvl3pPr marL="0" indent="457200" algn="ctr" defTabSz="821531">
              <a:lnSpc>
                <a:spcPct val="100000"/>
              </a:lnSpc>
              <a:spcBef>
                <a:spcPts val="0"/>
              </a:spcBef>
              <a:buSzTx/>
              <a:buNone/>
              <a:defRPr sz="4400">
                <a:solidFill>
                  <a:srgbClr val="497D7A"/>
                </a:solidFill>
              </a:defRPr>
            </a:lvl3pPr>
            <a:lvl4pPr marL="0" indent="685800" algn="ctr" defTabSz="821531">
              <a:lnSpc>
                <a:spcPct val="100000"/>
              </a:lnSpc>
              <a:spcBef>
                <a:spcPts val="0"/>
              </a:spcBef>
              <a:buSzTx/>
              <a:buNone/>
              <a:defRPr sz="4400">
                <a:solidFill>
                  <a:srgbClr val="497D7A"/>
                </a:solidFill>
              </a:defRPr>
            </a:lvl4pPr>
            <a:lvl5pPr marL="0" indent="914400" algn="ctr" defTabSz="821531">
              <a:lnSpc>
                <a:spcPct val="100000"/>
              </a:lnSpc>
              <a:spcBef>
                <a:spcPts val="0"/>
              </a:spcBef>
              <a:buSzTx/>
              <a:buNone/>
              <a:defRPr sz="4400">
                <a:solidFill>
                  <a:srgbClr val="497D7A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1" name="Slide Number"/>
          <p:cNvSpPr txBox="1"/>
          <p:nvPr>
            <p:ph type="sldNum" sz="quarter" idx="2"/>
          </p:nvPr>
        </p:nvSpPr>
        <p:spPr>
          <a:xfrm>
            <a:off x="11935814" y="13010554"/>
            <a:ext cx="494513" cy="511176"/>
          </a:xfrm>
          <a:prstGeom prst="rect">
            <a:avLst/>
          </a:prstGeom>
        </p:spPr>
        <p:txBody>
          <a:bodyPr lIns="71437" tIns="71437" rIns="71437" bIns="71437" anchor="t"/>
          <a:lstStyle>
            <a:lvl1pPr defTabSz="821531">
              <a:defRPr sz="24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Title</a:t>
            </a:r>
          </a:p>
        </p:txBody>
      </p:sp>
      <p:sp>
        <p:nvSpPr>
          <p:cNvPr id="3" name="Body Level One…"/>
          <p:cNvSpPr txBox="1"/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defTabSz="584200">
              <a:defRPr sz="1800"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Building Better Slides…"/>
          <p:cNvSpPr txBox="1"/>
          <p:nvPr/>
        </p:nvSpPr>
        <p:spPr>
          <a:xfrm>
            <a:off x="5167477" y="-220074"/>
            <a:ext cx="14049046" cy="31547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71437" tIns="71437" rIns="71437" bIns="71437" anchor="ctr">
            <a:spAutoFit/>
          </a:bodyPr>
          <a:lstStyle/>
          <a:p>
            <a:pPr defTabSz="821531">
              <a:defRPr b="1" sz="9800">
                <a:solidFill>
                  <a:srgbClr val="497D7A"/>
                </a:solidFill>
              </a:defRPr>
            </a:pPr>
            <a:r>
              <a:t>Building Better Slides</a:t>
            </a:r>
          </a:p>
          <a:p>
            <a:pPr defTabSz="821531">
              <a:defRPr b="1" sz="9800">
                <a:solidFill>
                  <a:srgbClr val="497D7A"/>
                </a:solidFill>
              </a:defRPr>
            </a:pPr>
            <a:r>
              <a:t>via Principles of Design</a:t>
            </a:r>
          </a:p>
        </p:txBody>
      </p:sp>
      <p:sp>
        <p:nvSpPr>
          <p:cNvPr id="161" name="Adam A Miller…"/>
          <p:cNvSpPr txBox="1"/>
          <p:nvPr/>
        </p:nvSpPr>
        <p:spPr>
          <a:xfrm>
            <a:off x="8314841" y="11000581"/>
            <a:ext cx="7754318" cy="20732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>
            <a:spAutoFit/>
          </a:bodyPr>
          <a:lstStyle/>
          <a:p>
            <a:pPr defTabSz="821531">
              <a:defRPr sz="3200">
                <a:solidFill>
                  <a:srgbClr val="000B29"/>
                </a:solidFill>
                <a:latin typeface="Times Roman"/>
                <a:ea typeface="Times Roman"/>
                <a:cs typeface="Times Roman"/>
                <a:sym typeface="Times Roman"/>
              </a:defRPr>
            </a:pPr>
            <a:r>
              <a:t>Adam A Miller</a:t>
            </a:r>
          </a:p>
          <a:p>
            <a:pPr defTabSz="821531">
              <a:defRPr sz="3200">
                <a:solidFill>
                  <a:srgbClr val="000B29"/>
                </a:solidFill>
                <a:latin typeface="Times Roman"/>
                <a:ea typeface="Times Roman"/>
                <a:cs typeface="Times Roman"/>
                <a:sym typeface="Times Roman"/>
              </a:defRPr>
            </a:pPr>
            <a:r>
              <a:t>Northwestern/CIERA/SkAI</a:t>
            </a:r>
          </a:p>
          <a:p>
            <a:pPr defTabSz="821531">
              <a:defRPr sz="3200">
                <a:solidFill>
                  <a:srgbClr val="000B29"/>
                </a:solidFill>
                <a:latin typeface="Times Roman"/>
                <a:ea typeface="Times Roman"/>
                <a:cs typeface="Times Roman"/>
                <a:sym typeface="Times Roman"/>
              </a:defRPr>
            </a:pPr>
            <a:r>
              <a:t>LSST-DA DSFP Session 26</a:t>
            </a:r>
          </a:p>
          <a:p>
            <a:pPr defTabSz="821531">
              <a:defRPr sz="3200">
                <a:solidFill>
                  <a:srgbClr val="000B29"/>
                </a:solidFill>
                <a:latin typeface="Times Roman"/>
                <a:ea typeface="Times Roman"/>
                <a:cs typeface="Times Roman"/>
                <a:sym typeface="Times Roman"/>
              </a:defRPr>
            </a:pPr>
            <a:r>
              <a:t>25 August 2026</a:t>
            </a:r>
          </a:p>
        </p:txBody>
      </p:sp>
      <p:pic>
        <p:nvPicPr>
          <p:cNvPr id="162" name="iu.png" descr="iu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097536" y="4167316"/>
            <a:ext cx="6188928" cy="6188929"/>
          </a:xfrm>
          <a:prstGeom prst="rect">
            <a:avLst/>
          </a:prstGeom>
          <a:ln w="12700">
            <a:miter lim="400000"/>
          </a:ln>
        </p:spPr>
      </p:pic>
      <p:sp>
        <p:nvSpPr>
          <p:cNvPr id="163" name="© Apple"/>
          <p:cNvSpPr txBox="1"/>
          <p:nvPr/>
        </p:nvSpPr>
        <p:spPr>
          <a:xfrm>
            <a:off x="14105211" y="10169039"/>
            <a:ext cx="1181253" cy="477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71437" tIns="71437" rIns="71437" bIns="71437" anchor="ctr">
            <a:spAutoFit/>
          </a:bodyPr>
          <a:lstStyle>
            <a:lvl1pPr algn="r" defTabSz="821531">
              <a:defRPr sz="2200">
                <a:solidFill>
                  <a:srgbClr val="497D7A"/>
                </a:solidFill>
              </a:defRPr>
            </a:lvl1pPr>
          </a:lstStyle>
          <a:p>
            <a:pPr/>
            <a:r>
              <a:t>© Apple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4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4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