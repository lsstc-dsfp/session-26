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1.jpeg" ContentType="image/jpeg"/>
  <Override PartName="/ppt/notesSlides/notesSlide4.xml" ContentType="application/vnd.openxmlformats-officedocument.presentationml.notesSlide+xml"/>
  <Override PartName="/ppt/media/image2.jpe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3.jpe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4.jpeg" ContentType="image/jpeg"/>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57" name="Shape 157"/>
          <p:cNvSpPr/>
          <p:nvPr>
            <p:ph type="sldImg"/>
          </p:nvPr>
        </p:nvSpPr>
        <p:spPr>
          <a:xfrm>
            <a:off x="1143000" y="685800"/>
            <a:ext cx="4572000" cy="3429000"/>
          </a:xfrm>
          <a:prstGeom prst="rect">
            <a:avLst/>
          </a:prstGeom>
        </p:spPr>
        <p:txBody>
          <a:bodyPr/>
          <a:lstStyle/>
          <a:p>
            <a:pPr/>
          </a:p>
        </p:txBody>
      </p:sp>
      <p:sp>
        <p:nvSpPr>
          <p:cNvPr id="158" name="Shape 15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hape 169"/>
          <p:cNvSpPr/>
          <p:nvPr>
            <p:ph type="sldImg"/>
          </p:nvPr>
        </p:nvSpPr>
        <p:spPr>
          <a:prstGeom prst="rect">
            <a:avLst/>
          </a:prstGeom>
        </p:spPr>
        <p:txBody>
          <a:bodyPr/>
          <a:lstStyle/>
          <a:p>
            <a:pPr/>
          </a:p>
        </p:txBody>
      </p:sp>
      <p:sp>
        <p:nvSpPr>
          <p:cNvPr id="170" name="Shape 170"/>
          <p:cNvSpPr/>
          <p:nvPr>
            <p:ph type="body" sz="quarter" idx="1"/>
          </p:nvPr>
        </p:nvSpPr>
        <p:spPr>
          <a:prstGeom prst="rect">
            <a:avLst/>
          </a:prstGeom>
        </p:spPr>
        <p:txBody>
          <a:bodyPr/>
          <a:lstStyle/>
          <a:p>
            <a:pPr/>
            <a:r>
              <a:t>Regular reminder that the human brain is not a multiprocessor</a:t>
            </a:r>
          </a:p>
          <a:p>
            <a:pPr/>
          </a:p>
          <a:p>
            <a:pPr/>
            <a:r>
              <a:t>You must choose whether you want the audience to listen, read, or look (you don’t get more than one at the same time)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hape 182"/>
          <p:cNvSpPr/>
          <p:nvPr>
            <p:ph type="sldImg"/>
          </p:nvPr>
        </p:nvSpPr>
        <p:spPr>
          <a:prstGeom prst="rect">
            <a:avLst/>
          </a:prstGeom>
        </p:spPr>
        <p:txBody>
          <a:bodyPr/>
          <a:lstStyle/>
          <a:p>
            <a:pPr/>
          </a:p>
        </p:txBody>
      </p:sp>
      <p:sp>
        <p:nvSpPr>
          <p:cNvPr id="183" name="Shape 183"/>
          <p:cNvSpPr/>
          <p:nvPr>
            <p:ph type="body" sz="quarter" idx="1"/>
          </p:nvPr>
        </p:nvSpPr>
        <p:spPr>
          <a:prstGeom prst="rect">
            <a:avLst/>
          </a:prstGeom>
        </p:spPr>
        <p:txBody>
          <a:bodyPr/>
          <a:lstStyle/>
          <a:p>
            <a:pPr/>
            <a:r>
              <a:t>Take advantage by aligning everything</a:t>
            </a:r>
          </a:p>
          <a:p>
            <a:pPr/>
          </a:p>
          <a:p>
            <a:pPr/>
            <a:r>
              <a:t>We automatically and spontaneously perceive a full circle behind the square. In reality, several shapes are possible in the occluded area. This disparity between the actual visual stimulus and what we think (or know) we should be seeing points to the psychology involved in seeing. It is likely that we complete the object behind the square as a circle because it produces a simple and familiar shape.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r>
              <a:t>Take advantage by aligning everything</a:t>
            </a:r>
          </a:p>
          <a:p>
            <a:pPr/>
          </a:p>
          <a:p>
            <a:pPr/>
            <a:r>
              <a:t>We automatically and spontaneously perceive a full circle behind the square. In reality, several shapes are possible in the occluded area. This disparity between the actual visual stimulus and what we think (or know) we should be seeing points to the psychology involved in seeing. It is likely that we complete the object behind the square as a circle because it produces a simple and familiar shape.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Take advantage by aligning everything</a:t>
            </a:r>
          </a:p>
          <a:p>
            <a:pPr/>
          </a:p>
          <a:p>
            <a:pPr/>
            <a:r>
              <a:t>We automatically and spontaneously perceive a full circle behind the square. In reality, several shapes are possible in the occluded area. This disparity between the actual visual stimulus and what we think (or know) we should be seeing points to the psychology involved in seeing. It is likely that we complete the object behind the square as a circle because it produces a simple and familiar shape.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r>
              <a:t>Gestalt! Items relating to each other should be grouped closely together. When several items are in close proximity, they become one visual unit rather than several separate units. This helps organize information, reduces clutter, and gives the reader a clear structure.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hape 221"/>
          <p:cNvSpPr/>
          <p:nvPr>
            <p:ph type="sldImg"/>
          </p:nvPr>
        </p:nvSpPr>
        <p:spPr>
          <a:prstGeom prst="rect">
            <a:avLst/>
          </a:prstGeom>
        </p:spPr>
        <p:txBody>
          <a:bodyPr/>
          <a:lstStyle/>
          <a:p>
            <a:pPr/>
          </a:p>
        </p:txBody>
      </p:sp>
      <p:sp>
        <p:nvSpPr>
          <p:cNvPr id="222" name="Shape 222"/>
          <p:cNvSpPr/>
          <p:nvPr>
            <p:ph type="body" sz="quarter" idx="1"/>
          </p:nvPr>
        </p:nvSpPr>
        <p:spPr>
          <a:prstGeom prst="rect">
            <a:avLst/>
          </a:prstGeom>
        </p:spPr>
        <p:txBody>
          <a:bodyPr/>
          <a:lstStyle/>
          <a:p>
            <a:pPr/>
            <a:r>
              <a:t>Nothing should be placed on the page arbitrarily. Every element should have some visual connection with the other element on the page.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233"/>
          <p:cNvSpPr/>
          <p:nvPr>
            <p:ph type="sldImg"/>
          </p:nvPr>
        </p:nvSpPr>
        <p:spPr>
          <a:prstGeom prst="rect">
            <a:avLst/>
          </a:prstGeom>
        </p:spPr>
        <p:txBody>
          <a:bodyPr/>
          <a:lstStyle/>
          <a:p>
            <a:pPr/>
          </a:p>
        </p:txBody>
      </p:sp>
      <p:sp>
        <p:nvSpPr>
          <p:cNvPr id="234" name="Shape 234"/>
          <p:cNvSpPr/>
          <p:nvPr>
            <p:ph type="body" sz="quarter" idx="1"/>
          </p:nvPr>
        </p:nvSpPr>
        <p:spPr>
          <a:prstGeom prst="rect">
            <a:avLst/>
          </a:prstGeom>
        </p:spPr>
        <p:txBody>
          <a:bodyPr/>
          <a:lstStyle/>
          <a:p>
            <a:pPr/>
            <a:r>
              <a:t>gridlines help to structure layouts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Shape 249"/>
          <p:cNvSpPr/>
          <p:nvPr>
            <p:ph type="sldImg"/>
          </p:nvPr>
        </p:nvSpPr>
        <p:spPr>
          <a:prstGeom prst="rect">
            <a:avLst/>
          </a:prstGeom>
        </p:spPr>
        <p:txBody>
          <a:bodyPr/>
          <a:lstStyle/>
          <a:p>
            <a:pPr/>
          </a:p>
        </p:txBody>
      </p:sp>
      <p:sp>
        <p:nvSpPr>
          <p:cNvPr id="250" name="Shape 250"/>
          <p:cNvSpPr/>
          <p:nvPr>
            <p:ph type="body" sz="quarter" idx="1"/>
          </p:nvPr>
        </p:nvSpPr>
        <p:spPr>
          <a:prstGeom prst="rect">
            <a:avLst/>
          </a:prstGeom>
        </p:spPr>
        <p:txBody>
          <a:bodyPr/>
          <a:lstStyle/>
          <a:p>
            <a:pPr/>
            <a:r>
              <a:t>Repeating visual elements of the design throughout the piece by means of color, shape, spatial relationship, line thickness, font, size, graphic concept, etc. This helps to organize the piece and strengthen unity.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Shape 256"/>
          <p:cNvSpPr/>
          <p:nvPr>
            <p:ph type="sldImg"/>
          </p:nvPr>
        </p:nvSpPr>
        <p:spPr>
          <a:prstGeom prst="rect">
            <a:avLst/>
          </a:prstGeom>
        </p:spPr>
        <p:txBody>
          <a:bodyPr/>
          <a:lstStyle/>
          <a:p>
            <a:pPr/>
          </a:p>
        </p:txBody>
      </p:sp>
      <p:sp>
        <p:nvSpPr>
          <p:cNvPr id="257" name="Shape 257"/>
          <p:cNvSpPr/>
          <p:nvPr>
            <p:ph type="body" sz="quarter" idx="1"/>
          </p:nvPr>
        </p:nvSpPr>
        <p:spPr>
          <a:prstGeom prst="rect">
            <a:avLst/>
          </a:prstGeom>
        </p:spPr>
        <p:txBody>
          <a:bodyPr/>
          <a:lstStyle/>
          <a:p>
            <a:pPr/>
            <a:r>
              <a:t>If items do not belong to the same unit, then make them very different. Contrast is often the most important visual attraction on a page - it’s what makes the reader look at the page in the first place.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hape 263"/>
          <p:cNvSpPr/>
          <p:nvPr>
            <p:ph type="sldImg"/>
          </p:nvPr>
        </p:nvSpPr>
        <p:spPr>
          <a:prstGeom prst="rect">
            <a:avLst/>
          </a:prstGeom>
        </p:spPr>
        <p:txBody>
          <a:bodyPr/>
          <a:lstStyle/>
          <a:p>
            <a:pPr/>
          </a:p>
        </p:txBody>
      </p:sp>
      <p:sp>
        <p:nvSpPr>
          <p:cNvPr id="264" name="Shape 264"/>
          <p:cNvSpPr/>
          <p:nvPr>
            <p:ph type="body" sz="quarter" idx="1"/>
          </p:nvPr>
        </p:nvSpPr>
        <p:spPr>
          <a:prstGeom prst="rect">
            <a:avLst/>
          </a:prstGeom>
        </p:spPr>
        <p:txBody>
          <a:bodyPr/>
          <a:lstStyle/>
          <a:p>
            <a:pPr/>
            <a:r>
              <a:t>The anatomy of letterform for serif (Garamond) and sans serif (Univers) type both set at 58 point. (b) Four of the most readily available fonts.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Shape 270"/>
          <p:cNvSpPr/>
          <p:nvPr>
            <p:ph type="sldImg"/>
          </p:nvPr>
        </p:nvSpPr>
        <p:spPr>
          <a:prstGeom prst="rect">
            <a:avLst/>
          </a:prstGeom>
        </p:spPr>
        <p:txBody>
          <a:bodyPr/>
          <a:lstStyle/>
          <a:p>
            <a:pPr/>
          </a:p>
        </p:txBody>
      </p:sp>
      <p:sp>
        <p:nvSpPr>
          <p:cNvPr id="271" name="Shape 271"/>
          <p:cNvSpPr/>
          <p:nvPr>
            <p:ph type="body" sz="quarter" idx="1"/>
          </p:nvPr>
        </p:nvSpPr>
        <p:spPr>
          <a:prstGeom prst="rect">
            <a:avLst/>
          </a:prstGeom>
        </p:spPr>
        <p:txBody>
          <a:bodyPr/>
          <a:lstStyle/>
          <a:p>
            <a:pPr/>
            <a:r>
              <a:t>If items do not belong to the same unit, then make them very different. Contrast is often the most important visual attraction on a page - it’s what makes the reader look at the page in the first place.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solidFill>
          <a:srgbClr val="F8F5F2"/>
        </a:solid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solidFill>
          <a:srgbClr val="F8F5F2"/>
        </a:solidFill>
      </p:bgPr>
    </p:bg>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lvl1pPr>
              <a:defRPr>
                <a:latin typeface="Helvetica"/>
                <a:ea typeface="Helvetica"/>
                <a:cs typeface="Helvetica"/>
                <a:sym typeface="Helvetica"/>
              </a:defRPr>
            </a:lvl1p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4200">
                <a:latin typeface="Helvetica"/>
                <a:ea typeface="Helvetica"/>
                <a:cs typeface="Helvetica"/>
                <a:sym typeface="Helvetica"/>
              </a:defRPr>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F8F5F2"/>
        </a:solidFill>
      </p:bgPr>
    </p:bg>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bg>
      <p:bgPr>
        <a:solidFill>
          <a:srgbClr val="F8F5F2"/>
        </a:solidFill>
      </p:bgPr>
    </p:bg>
    <p:spTree>
      <p:nvGrpSpPr>
        <p:cNvPr id="1" name=""/>
        <p:cNvGrpSpPr/>
        <p:nvPr/>
      </p:nvGrpSpPr>
      <p:grpSpPr>
        <a:xfrm>
          <a:off x="0" y="0"/>
          <a:ext cx="0" cy="0"/>
          <a:chOff x="0" y="0"/>
          <a:chExt cx="0" cy="0"/>
        </a:xfrm>
      </p:grpSpPr>
      <p:sp>
        <p:nvSpPr>
          <p:cNvPr id="149" name="Title Text"/>
          <p:cNvSpPr txBox="1"/>
          <p:nvPr>
            <p:ph type="title"/>
          </p:nvPr>
        </p:nvSpPr>
        <p:spPr>
          <a:xfrm>
            <a:off x="4833937" y="2303859"/>
            <a:ext cx="14716126" cy="4643438"/>
          </a:xfrm>
          <a:prstGeom prst="rect">
            <a:avLst/>
          </a:prstGeom>
        </p:spPr>
        <p:txBody>
          <a:bodyPr lIns="71437" tIns="71437" rIns="71437" bIns="71437" anchor="b"/>
          <a:lstStyle>
            <a:lvl1pPr algn="ctr" defTabSz="821531">
              <a:lnSpc>
                <a:spcPct val="100000"/>
              </a:lnSpc>
              <a:defRPr b="0" spc="0" sz="11200">
                <a:solidFill>
                  <a:srgbClr val="497D7A"/>
                </a:solidFill>
              </a:defRPr>
            </a:lvl1pPr>
          </a:lstStyle>
          <a:p>
            <a:pPr/>
            <a:r>
              <a:t>Title Text</a:t>
            </a:r>
          </a:p>
        </p:txBody>
      </p:sp>
      <p:sp>
        <p:nvSpPr>
          <p:cNvPr id="150" name="Body Level One…"/>
          <p:cNvSpPr txBox="1"/>
          <p:nvPr>
            <p:ph type="body" sz="quarter" idx="1"/>
          </p:nvPr>
        </p:nvSpPr>
        <p:spPr>
          <a:xfrm>
            <a:off x="4833937" y="7072312"/>
            <a:ext cx="14716126" cy="1589485"/>
          </a:xfrm>
          <a:prstGeom prst="rect">
            <a:avLst/>
          </a:prstGeom>
        </p:spPr>
        <p:txBody>
          <a:bodyPr lIns="71437" tIns="71437" rIns="71437" bIns="71437"/>
          <a:lstStyle>
            <a:lvl1pPr marL="0" indent="0" algn="ctr" defTabSz="821531">
              <a:lnSpc>
                <a:spcPct val="100000"/>
              </a:lnSpc>
              <a:spcBef>
                <a:spcPts val="0"/>
              </a:spcBef>
              <a:buSzTx/>
              <a:buNone/>
              <a:defRPr sz="4400">
                <a:solidFill>
                  <a:srgbClr val="497D7A"/>
                </a:solidFill>
              </a:defRPr>
            </a:lvl1pPr>
            <a:lvl2pPr marL="0" indent="228600" algn="ctr" defTabSz="821531">
              <a:lnSpc>
                <a:spcPct val="100000"/>
              </a:lnSpc>
              <a:spcBef>
                <a:spcPts val="0"/>
              </a:spcBef>
              <a:buSzTx/>
              <a:buNone/>
              <a:defRPr sz="4400">
                <a:solidFill>
                  <a:srgbClr val="497D7A"/>
                </a:solidFill>
              </a:defRPr>
            </a:lvl2pPr>
            <a:lvl3pPr marL="0" indent="457200" algn="ctr" defTabSz="821531">
              <a:lnSpc>
                <a:spcPct val="100000"/>
              </a:lnSpc>
              <a:spcBef>
                <a:spcPts val="0"/>
              </a:spcBef>
              <a:buSzTx/>
              <a:buNone/>
              <a:defRPr sz="4400">
                <a:solidFill>
                  <a:srgbClr val="497D7A"/>
                </a:solidFill>
              </a:defRPr>
            </a:lvl3pPr>
            <a:lvl4pPr marL="0" indent="685800" algn="ctr" defTabSz="821531">
              <a:lnSpc>
                <a:spcPct val="100000"/>
              </a:lnSpc>
              <a:spcBef>
                <a:spcPts val="0"/>
              </a:spcBef>
              <a:buSzTx/>
              <a:buNone/>
              <a:defRPr sz="4400">
                <a:solidFill>
                  <a:srgbClr val="497D7A"/>
                </a:solidFill>
              </a:defRPr>
            </a:lvl4pPr>
            <a:lvl5pPr marL="0" indent="914400" algn="ctr" defTabSz="821531">
              <a:lnSpc>
                <a:spcPct val="100000"/>
              </a:lnSpc>
              <a:spcBef>
                <a:spcPts val="0"/>
              </a:spcBef>
              <a:buSzTx/>
              <a:buNone/>
              <a:defRPr sz="4400">
                <a:solidFill>
                  <a:srgbClr val="497D7A"/>
                </a:solidFill>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3.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4.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Building Better Slides…"/>
          <p:cNvSpPr txBox="1"/>
          <p:nvPr/>
        </p:nvSpPr>
        <p:spPr>
          <a:xfrm>
            <a:off x="5167477" y="-220074"/>
            <a:ext cx="14049046" cy="315477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defTabSz="821531">
              <a:defRPr b="1" sz="9800">
                <a:solidFill>
                  <a:srgbClr val="497D7A"/>
                </a:solidFill>
              </a:defRPr>
            </a:pPr>
            <a:r>
              <a:t>Building Better Slides</a:t>
            </a:r>
          </a:p>
          <a:p>
            <a:pPr defTabSz="821531">
              <a:defRPr b="1" sz="9800">
                <a:solidFill>
                  <a:srgbClr val="497D7A"/>
                </a:solidFill>
              </a:defRPr>
            </a:pPr>
            <a:r>
              <a:t>via Principles of Design</a:t>
            </a:r>
          </a:p>
        </p:txBody>
      </p:sp>
      <p:sp>
        <p:nvSpPr>
          <p:cNvPr id="161" name="Adam A Miller…"/>
          <p:cNvSpPr txBox="1"/>
          <p:nvPr/>
        </p:nvSpPr>
        <p:spPr>
          <a:xfrm>
            <a:off x="8314841" y="11000581"/>
            <a:ext cx="7754318" cy="20732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defTabSz="821531">
              <a:defRPr sz="3200">
                <a:solidFill>
                  <a:srgbClr val="000B29"/>
                </a:solidFill>
                <a:latin typeface="Times Roman"/>
                <a:ea typeface="Times Roman"/>
                <a:cs typeface="Times Roman"/>
                <a:sym typeface="Times Roman"/>
              </a:defRPr>
            </a:pPr>
            <a:r>
              <a:t>Adam A Miller</a:t>
            </a:r>
          </a:p>
          <a:p>
            <a:pPr defTabSz="821531">
              <a:defRPr sz="3200">
                <a:solidFill>
                  <a:srgbClr val="000B29"/>
                </a:solidFill>
                <a:latin typeface="Times Roman"/>
                <a:ea typeface="Times Roman"/>
                <a:cs typeface="Times Roman"/>
                <a:sym typeface="Times Roman"/>
              </a:defRPr>
            </a:pPr>
            <a:r>
              <a:t>Northwestern/CIERA/SkAI</a:t>
            </a:r>
          </a:p>
          <a:p>
            <a:pPr defTabSz="821531">
              <a:defRPr sz="3200">
                <a:solidFill>
                  <a:srgbClr val="000B29"/>
                </a:solidFill>
                <a:latin typeface="Times Roman"/>
                <a:ea typeface="Times Roman"/>
                <a:cs typeface="Times Roman"/>
                <a:sym typeface="Times Roman"/>
              </a:defRPr>
            </a:pPr>
            <a:r>
              <a:t>LSST-DA DSFP Session 26</a:t>
            </a:r>
          </a:p>
          <a:p>
            <a:pPr defTabSz="821531">
              <a:defRPr sz="3200">
                <a:solidFill>
                  <a:srgbClr val="000B29"/>
                </a:solidFill>
                <a:latin typeface="Times Roman"/>
                <a:ea typeface="Times Roman"/>
                <a:cs typeface="Times Roman"/>
                <a:sym typeface="Times Roman"/>
              </a:defRPr>
            </a:pPr>
            <a:r>
              <a:t>25 August 2026</a:t>
            </a:r>
          </a:p>
        </p:txBody>
      </p:sp>
      <p:pic>
        <p:nvPicPr>
          <p:cNvPr id="162" name="iu.png" descr="iu.png"/>
          <p:cNvPicPr>
            <a:picLocks noChangeAspect="1"/>
          </p:cNvPicPr>
          <p:nvPr/>
        </p:nvPicPr>
        <p:blipFill>
          <a:blip r:embed="rId2">
            <a:extLst/>
          </a:blip>
          <a:stretch>
            <a:fillRect/>
          </a:stretch>
        </p:blipFill>
        <p:spPr>
          <a:xfrm>
            <a:off x="9097536" y="4167316"/>
            <a:ext cx="6188928" cy="6188929"/>
          </a:xfrm>
          <a:prstGeom prst="rect">
            <a:avLst/>
          </a:prstGeom>
          <a:ln w="12700">
            <a:miter lim="400000"/>
          </a:ln>
        </p:spPr>
      </p:pic>
      <p:sp>
        <p:nvSpPr>
          <p:cNvPr id="163" name="© Apple"/>
          <p:cNvSpPr txBox="1"/>
          <p:nvPr/>
        </p:nvSpPr>
        <p:spPr>
          <a:xfrm>
            <a:off x="14105211" y="10169039"/>
            <a:ext cx="1181253"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 Apple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I dare you - read all this and listen to me"/>
          <p:cNvSpPr txBox="1"/>
          <p:nvPr/>
        </p:nvSpPr>
        <p:spPr>
          <a:xfrm>
            <a:off x="1257300" y="2413881"/>
            <a:ext cx="11518900"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l" defTabSz="821531">
              <a:defRPr sz="5000">
                <a:solidFill>
                  <a:srgbClr val="000B29"/>
                </a:solidFill>
              </a:defRPr>
            </a:pPr>
            <a:r>
              <a:t>I dare you - read all this </a:t>
            </a:r>
            <a:r>
              <a:rPr i="1"/>
              <a:t>and</a:t>
            </a:r>
            <a:r>
              <a:t> listen to me</a:t>
            </a:r>
          </a:p>
        </p:txBody>
      </p:sp>
      <p:sp>
        <p:nvSpPr>
          <p:cNvPr id="166" name="Miner 56"/>
          <p:cNvSpPr txBox="1"/>
          <p:nvPr/>
        </p:nvSpPr>
        <p:spPr>
          <a:xfrm>
            <a:off x="21878950" y="13097977"/>
            <a:ext cx="1247751"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Miner 56</a:t>
            </a:r>
          </a:p>
        </p:txBody>
      </p:sp>
      <p:sp>
        <p:nvSpPr>
          <p:cNvPr id="167" name="Your Brain Is Not a Multiprocessor"/>
          <p:cNvSpPr txBox="1"/>
          <p:nvPr/>
        </p:nvSpPr>
        <p:spPr>
          <a:xfrm>
            <a:off x="1257300" y="518113"/>
            <a:ext cx="20504786"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Your Brain Is Not a Multiprocessor</a:t>
            </a:r>
          </a:p>
        </p:txBody>
      </p:sp>
      <p:sp>
        <p:nvSpPr>
          <p:cNvPr id="168" name="Nacirema culture is characterized by a highly developed market economy which has evolved in a rich natural habitat.  While much of the people’s time is devoted to economic pursuits, a large part of the fruits of these labors and a considerable portion of"/>
          <p:cNvSpPr txBox="1"/>
          <p:nvPr/>
        </p:nvSpPr>
        <p:spPr>
          <a:xfrm>
            <a:off x="1257300" y="4122340"/>
            <a:ext cx="21844000" cy="9017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spcBef>
                <a:spcPts val="1200"/>
              </a:spcBef>
              <a:defRPr sz="3000">
                <a:solidFill>
                  <a:srgbClr val="000000"/>
                </a:solidFill>
                <a:latin typeface="Times Roman"/>
                <a:ea typeface="Times Roman"/>
                <a:cs typeface="Times Roman"/>
                <a:sym typeface="Times Roman"/>
              </a:defRPr>
            </a:pPr>
            <a:r>
              <a:t>Nacirema culture is characterized by a highly developed market economy which has evolved in a rich natural habitat.  While much of the people’s time is devoted to economic pursuits, a large part of the fruits of these labors and a considerable portion of the day are spent in ritual activity.  The focus of this activity is the human body, the appearance and health of which loom as a dominant concern in the ethos of the people.  While such a concern is certainly not unusual, its ceremonial aspects and associated philosophy are unique.</a:t>
            </a:r>
          </a:p>
          <a:p>
            <a:pPr algn="l" defTabSz="457200">
              <a:spcBef>
                <a:spcPts val="1200"/>
              </a:spcBef>
              <a:defRPr sz="3000">
                <a:solidFill>
                  <a:srgbClr val="000000"/>
                </a:solidFill>
                <a:latin typeface="Times Roman"/>
                <a:ea typeface="Times Roman"/>
                <a:cs typeface="Times Roman"/>
                <a:sym typeface="Times Roman"/>
              </a:defRPr>
            </a:pPr>
            <a:r>
              <a:t>The fundamental belief underlying the whole system appears to be that the human body is ugly and that its natural tendency is to debility and disease.  Incarcerated in such a body, man’s only hope is to avert these characteristics through the use of the powerful influences of ritual and ceremony.  Every household has one or more shrines devoted to this purpose.  The more powerful individuals in the society have several shrines in their houses and, in fact, the opulence of a house is often referred to in terms of the number of such ritual centers it possesses.  Most houses are of wattle and daub construction, but the shrine rooms of the more wealthy are walled with stone.  Poorer families imitate the rich by applying pottery plaques to their shrine walls.</a:t>
            </a:r>
          </a:p>
          <a:p>
            <a:pPr algn="l" defTabSz="457200">
              <a:spcBef>
                <a:spcPts val="1200"/>
              </a:spcBef>
              <a:defRPr sz="3000">
                <a:solidFill>
                  <a:srgbClr val="000000"/>
                </a:solidFill>
                <a:latin typeface="Times Roman"/>
                <a:ea typeface="Times Roman"/>
                <a:cs typeface="Times Roman"/>
                <a:sym typeface="Times Roman"/>
              </a:defRPr>
            </a:pPr>
            <a:r>
              <a:t>While each family has at least one such shrine, the rituals associated with it are not family ceremonies but are private and secret.  The rites are normally only discussed with children, and then only during the period when they are being initiated into these mysteries.  I was able, however, to establish sufficient rapport with the natives to examine these shrines and to have the rituals described to me.</a:t>
            </a:r>
          </a:p>
          <a:p>
            <a:pPr algn="l" defTabSz="457200">
              <a:spcBef>
                <a:spcPts val="1200"/>
              </a:spcBef>
              <a:defRPr sz="3000">
                <a:solidFill>
                  <a:srgbClr val="000000"/>
                </a:solidFill>
                <a:latin typeface="Times Roman"/>
                <a:ea typeface="Times Roman"/>
                <a:cs typeface="Times Roman"/>
                <a:sym typeface="Times Roman"/>
              </a:defRPr>
            </a:pPr>
            <a:r>
              <a:t>The local point of the shrine is a box or chest which is built into the wall.  In this chest are kept the many charms and magical potions without which no native believes he could live.  These preparations are secured from a variety of specialized practitioners.  The most powerful of these are the medicine men, whose assistance must be rewarded with substantial gifts.  However, the medicine men do not provide the curative potions for their clients. but decide what the ingredients should be and then write them down in an ancient and secret language.  This writing is understood only by the medicine men and by the herbalists who, for another gift, provide the required charm.</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Vertical looks great in (2 column) papers"/>
          <p:cNvSpPr txBox="1"/>
          <p:nvPr/>
        </p:nvSpPr>
        <p:spPr>
          <a:xfrm>
            <a:off x="1257300" y="2413881"/>
            <a:ext cx="11482070"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Vertical looks great in (2 column) papers</a:t>
            </a:r>
          </a:p>
        </p:txBody>
      </p:sp>
      <p:sp>
        <p:nvSpPr>
          <p:cNvPr id="173" name="Look at all this floating empty space"/>
          <p:cNvSpPr txBox="1"/>
          <p:nvPr/>
        </p:nvSpPr>
        <p:spPr>
          <a:xfrm>
            <a:off x="18661856" y="4506986"/>
            <a:ext cx="4464844" cy="1235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r" defTabSz="821531">
              <a:defRPr sz="3600">
                <a:solidFill>
                  <a:srgbClr val="000B29"/>
                </a:solidFill>
                <a:latin typeface="Times Roman"/>
                <a:ea typeface="Times Roman"/>
                <a:cs typeface="Times Roman"/>
                <a:sym typeface="Times Roman"/>
              </a:defRPr>
            </a:lvl1pPr>
          </a:lstStyle>
          <a:p>
            <a:pPr/>
            <a:r>
              <a:t>Look at all this floating empty space</a:t>
            </a:r>
          </a:p>
        </p:txBody>
      </p:sp>
      <p:sp>
        <p:nvSpPr>
          <p:cNvPr id="174" name="AAM+20b"/>
          <p:cNvSpPr txBox="1"/>
          <p:nvPr/>
        </p:nvSpPr>
        <p:spPr>
          <a:xfrm>
            <a:off x="21721648" y="13097977"/>
            <a:ext cx="1405052"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AAM+20b</a:t>
            </a:r>
          </a:p>
        </p:txBody>
      </p:sp>
      <p:sp>
        <p:nvSpPr>
          <p:cNvPr id="175" name="Figures"/>
          <p:cNvSpPr txBox="1"/>
          <p:nvPr/>
        </p:nvSpPr>
        <p:spPr>
          <a:xfrm>
            <a:off x="1257300" y="518113"/>
            <a:ext cx="4557726"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Figures</a:t>
            </a:r>
          </a:p>
        </p:txBody>
      </p:sp>
      <p:pic>
        <p:nvPicPr>
          <p:cNvPr id="176" name="abs_mag_host_ebv_kcorr.pdf" descr="abs_mag_host_ebv_kcorr.pdf"/>
          <p:cNvPicPr>
            <a:picLocks noChangeAspect="1"/>
          </p:cNvPicPr>
          <p:nvPr/>
        </p:nvPicPr>
        <p:blipFill>
          <a:blip r:embed="rId2">
            <a:extLst/>
          </a:blip>
          <a:stretch>
            <a:fillRect/>
          </a:stretch>
        </p:blipFill>
        <p:spPr>
          <a:xfrm>
            <a:off x="1257300" y="3614340"/>
            <a:ext cx="5953125" cy="952500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8" name="ZTF18abgmcmv_model_lc.pdf" descr="ZTF18abgmcmv_model_lc.pdf"/>
          <p:cNvPicPr>
            <a:picLocks noChangeAspect="1"/>
          </p:cNvPicPr>
          <p:nvPr/>
        </p:nvPicPr>
        <p:blipFill>
          <a:blip r:embed="rId3">
            <a:extLst/>
          </a:blip>
          <a:stretch>
            <a:fillRect/>
          </a:stretch>
        </p:blipFill>
        <p:spPr>
          <a:xfrm>
            <a:off x="1257300" y="3565970"/>
            <a:ext cx="17145000" cy="9525001"/>
          </a:xfrm>
          <a:prstGeom prst="rect">
            <a:avLst/>
          </a:prstGeom>
          <a:ln w="12700">
            <a:miter lim="400000"/>
          </a:ln>
        </p:spPr>
      </p:pic>
      <p:sp>
        <p:nvSpPr>
          <p:cNvPr id="179" name="Horizontal is much better for 16:9"/>
          <p:cNvSpPr txBox="1"/>
          <p:nvPr/>
        </p:nvSpPr>
        <p:spPr>
          <a:xfrm>
            <a:off x="1257300" y="2413881"/>
            <a:ext cx="9634855"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Horizontal is much better for 16:9</a:t>
            </a:r>
          </a:p>
        </p:txBody>
      </p:sp>
      <p:sp>
        <p:nvSpPr>
          <p:cNvPr id="180" name="AAM+20a"/>
          <p:cNvSpPr txBox="1"/>
          <p:nvPr/>
        </p:nvSpPr>
        <p:spPr>
          <a:xfrm>
            <a:off x="21737294" y="13097977"/>
            <a:ext cx="138940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AAM+20a</a:t>
            </a:r>
          </a:p>
        </p:txBody>
      </p:sp>
      <p:sp>
        <p:nvSpPr>
          <p:cNvPr id="181" name="Figures"/>
          <p:cNvSpPr txBox="1"/>
          <p:nvPr/>
        </p:nvSpPr>
        <p:spPr>
          <a:xfrm>
            <a:off x="1257300" y="518113"/>
            <a:ext cx="4557726"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Figures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Use Gestalt to your advantage"/>
          <p:cNvSpPr txBox="1"/>
          <p:nvPr/>
        </p:nvSpPr>
        <p:spPr>
          <a:xfrm>
            <a:off x="1257300" y="2413881"/>
            <a:ext cx="8787765"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Use Gestalt to your advantage</a:t>
            </a:r>
          </a:p>
        </p:txBody>
      </p:sp>
      <p:sp>
        <p:nvSpPr>
          <p:cNvPr id="186" name="leverage neuroscience research to encourage automatic “hidden” connections"/>
          <p:cNvSpPr txBox="1"/>
          <p:nvPr/>
        </p:nvSpPr>
        <p:spPr>
          <a:xfrm>
            <a:off x="14941359" y="3565970"/>
            <a:ext cx="8185341" cy="1235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r" defTabSz="821531">
              <a:defRPr sz="3600">
                <a:solidFill>
                  <a:srgbClr val="000B29"/>
                </a:solidFill>
                <a:latin typeface="Times Roman"/>
                <a:ea typeface="Times Roman"/>
                <a:cs typeface="Times Roman"/>
                <a:sym typeface="Times Roman"/>
              </a:defRPr>
            </a:lvl1pPr>
          </a:lstStyle>
          <a:p>
            <a:pPr/>
            <a:r>
              <a:t>leverage neuroscience research to encourage automatic “hidden” connections </a:t>
            </a:r>
          </a:p>
        </p:txBody>
      </p:sp>
      <p:pic>
        <p:nvPicPr>
          <p:cNvPr id="187" name="nmeth1210-941-F1.jpg" descr="nmeth1210-941-F1.jpg"/>
          <p:cNvPicPr>
            <a:picLocks noChangeAspect="1"/>
          </p:cNvPicPr>
          <p:nvPr/>
        </p:nvPicPr>
        <p:blipFill>
          <a:blip r:embed="rId3">
            <a:extLst/>
          </a:blip>
          <a:srcRect l="15377" t="56249" r="0" b="0"/>
          <a:stretch>
            <a:fillRect/>
          </a:stretch>
        </p:blipFill>
        <p:spPr>
          <a:xfrm>
            <a:off x="1257300" y="3565970"/>
            <a:ext cx="11946731" cy="9525000"/>
          </a:xfrm>
          <a:prstGeom prst="rect">
            <a:avLst/>
          </a:prstGeom>
          <a:ln w="12700">
            <a:miter lim="400000"/>
          </a:ln>
        </p:spPr>
      </p:pic>
      <p:sp>
        <p:nvSpPr>
          <p:cNvPr id="188" name="Wong, Nature Methods, 2010"/>
          <p:cNvSpPr txBox="1"/>
          <p:nvPr/>
        </p:nvSpPr>
        <p:spPr>
          <a:xfrm>
            <a:off x="19306793" y="13097977"/>
            <a:ext cx="3819907"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Wong, Nature Methods, 2010</a:t>
            </a:r>
          </a:p>
        </p:txBody>
      </p:sp>
      <p:sp>
        <p:nvSpPr>
          <p:cNvPr id="189" name="Use Gestalt"/>
          <p:cNvSpPr txBox="1"/>
          <p:nvPr/>
        </p:nvSpPr>
        <p:spPr>
          <a:xfrm>
            <a:off x="1257300" y="518113"/>
            <a:ext cx="7045681"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Use Gestalt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E.g., bullet points"/>
          <p:cNvSpPr txBox="1"/>
          <p:nvPr/>
        </p:nvSpPr>
        <p:spPr>
          <a:xfrm>
            <a:off x="1257300" y="2413881"/>
            <a:ext cx="5272405"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E.g., bullet points </a:t>
            </a:r>
          </a:p>
        </p:txBody>
      </p:sp>
      <p:sp>
        <p:nvSpPr>
          <p:cNvPr id="194" name="do you actually need…"/>
          <p:cNvSpPr txBox="1"/>
          <p:nvPr/>
        </p:nvSpPr>
        <p:spPr>
          <a:xfrm>
            <a:off x="17331046" y="4464719"/>
            <a:ext cx="5795655" cy="28733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algn="r" defTabSz="821531">
              <a:defRPr sz="3600">
                <a:solidFill>
                  <a:srgbClr val="000B29"/>
                </a:solidFill>
                <a:latin typeface="Times Roman"/>
                <a:ea typeface="Times Roman"/>
                <a:cs typeface="Times Roman"/>
                <a:sym typeface="Times Roman"/>
              </a:defRPr>
            </a:pPr>
            <a:r>
              <a:t>do you actually need</a:t>
            </a:r>
          </a:p>
          <a:p>
            <a:pPr algn="r" defTabSz="821531">
              <a:defRPr sz="3600">
                <a:solidFill>
                  <a:srgbClr val="000B29"/>
                </a:solidFill>
                <a:latin typeface="Times Roman"/>
                <a:ea typeface="Times Roman"/>
                <a:cs typeface="Times Roman"/>
                <a:sym typeface="Times Roman"/>
              </a:defRPr>
            </a:pPr>
          </a:p>
          <a:p>
            <a:pPr algn="r" defTabSz="821531">
              <a:defRPr sz="3600">
                <a:solidFill>
                  <a:srgbClr val="000B29"/>
                </a:solidFill>
                <a:latin typeface="Times Roman"/>
                <a:ea typeface="Times Roman"/>
                <a:cs typeface="Times Roman"/>
                <a:sym typeface="Times Roman"/>
              </a:defRPr>
            </a:pPr>
            <a:r>
              <a:t>individual bullet points</a:t>
            </a:r>
          </a:p>
          <a:p>
            <a:pPr algn="r" defTabSz="821531">
              <a:defRPr sz="3600">
                <a:solidFill>
                  <a:srgbClr val="000B29"/>
                </a:solidFill>
                <a:latin typeface="Times Roman"/>
                <a:ea typeface="Times Roman"/>
                <a:cs typeface="Times Roman"/>
                <a:sym typeface="Times Roman"/>
              </a:defRPr>
            </a:pPr>
          </a:p>
          <a:p>
            <a:pPr algn="r" defTabSz="821531">
              <a:defRPr sz="3600">
                <a:solidFill>
                  <a:srgbClr val="000B29"/>
                </a:solidFill>
                <a:latin typeface="Times Roman"/>
                <a:ea typeface="Times Roman"/>
                <a:cs typeface="Times Roman"/>
                <a:sym typeface="Times Roman"/>
              </a:defRPr>
            </a:pPr>
            <a:r>
              <a:t>to separate different thoughts</a:t>
            </a:r>
          </a:p>
        </p:txBody>
      </p:sp>
      <p:sp>
        <p:nvSpPr>
          <p:cNvPr id="195" name="Use Gestalt"/>
          <p:cNvSpPr txBox="1"/>
          <p:nvPr/>
        </p:nvSpPr>
        <p:spPr>
          <a:xfrm>
            <a:off x="1257300" y="518113"/>
            <a:ext cx="7045681"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Use Gestalt</a:t>
            </a:r>
          </a:p>
        </p:txBody>
      </p:sp>
      <p:sp>
        <p:nvSpPr>
          <p:cNvPr id="196" name="do you actually need…"/>
          <p:cNvSpPr txBox="1"/>
          <p:nvPr/>
        </p:nvSpPr>
        <p:spPr>
          <a:xfrm>
            <a:off x="1257300" y="4464719"/>
            <a:ext cx="5896149" cy="28733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marL="304800" indent="-304800" algn="l" defTabSz="821531">
              <a:buSzPct val="100000"/>
              <a:buChar char="•"/>
              <a:defRPr sz="3600">
                <a:solidFill>
                  <a:srgbClr val="000B29"/>
                </a:solidFill>
                <a:latin typeface="Times Roman"/>
                <a:ea typeface="Times Roman"/>
                <a:cs typeface="Times Roman"/>
                <a:sym typeface="Times Roman"/>
              </a:defRPr>
            </a:pPr>
            <a:r>
              <a:t>do you actually need</a:t>
            </a:r>
          </a:p>
          <a:p>
            <a:pPr marL="304800" indent="-304800" algn="l" defTabSz="821531">
              <a:buSzPct val="100000"/>
              <a:buChar char="•"/>
              <a:defRPr sz="3600">
                <a:solidFill>
                  <a:srgbClr val="000B29"/>
                </a:solidFill>
                <a:latin typeface="Times Roman"/>
                <a:ea typeface="Times Roman"/>
                <a:cs typeface="Times Roman"/>
                <a:sym typeface="Times Roman"/>
              </a:defRPr>
            </a:pPr>
          </a:p>
          <a:p>
            <a:pPr marL="304800" indent="-304800" algn="l" defTabSz="821531">
              <a:buSzPct val="100000"/>
              <a:buChar char="•"/>
              <a:defRPr sz="3600">
                <a:solidFill>
                  <a:srgbClr val="000B29"/>
                </a:solidFill>
                <a:latin typeface="Times Roman"/>
                <a:ea typeface="Times Roman"/>
                <a:cs typeface="Times Roman"/>
                <a:sym typeface="Times Roman"/>
              </a:defRPr>
            </a:pPr>
            <a:r>
              <a:t>individual bullet points</a:t>
            </a:r>
          </a:p>
          <a:p>
            <a:pPr marL="304800" indent="-304800" algn="l" defTabSz="821531">
              <a:buSzPct val="100000"/>
              <a:buChar char="•"/>
              <a:defRPr sz="3600">
                <a:solidFill>
                  <a:srgbClr val="000B29"/>
                </a:solidFill>
                <a:latin typeface="Times Roman"/>
                <a:ea typeface="Times Roman"/>
                <a:cs typeface="Times Roman"/>
                <a:sym typeface="Times Roman"/>
              </a:defRPr>
            </a:pPr>
          </a:p>
          <a:p>
            <a:pPr marL="304800" indent="-304800" algn="l" defTabSz="821531">
              <a:buSzPct val="100000"/>
              <a:buChar char="•"/>
              <a:defRPr sz="3600">
                <a:solidFill>
                  <a:srgbClr val="000B29"/>
                </a:solidFill>
                <a:latin typeface="Times Roman"/>
                <a:ea typeface="Times Roman"/>
                <a:cs typeface="Times Roman"/>
                <a:sym typeface="Times Roman"/>
              </a:defRPr>
            </a:pPr>
            <a:r>
              <a:t>to separate different thoughts</a:t>
            </a:r>
          </a:p>
        </p:txBody>
      </p:sp>
      <p:sp>
        <p:nvSpPr>
          <p:cNvPr id="197" name="do you actually need…"/>
          <p:cNvSpPr txBox="1"/>
          <p:nvPr/>
        </p:nvSpPr>
        <p:spPr>
          <a:xfrm>
            <a:off x="1257300" y="9172181"/>
            <a:ext cx="5896149" cy="28733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algn="l" defTabSz="821531">
              <a:defRPr sz="3600">
                <a:solidFill>
                  <a:srgbClr val="000B29"/>
                </a:solidFill>
                <a:latin typeface="Times Roman"/>
                <a:ea typeface="Times Roman"/>
                <a:cs typeface="Times Roman"/>
                <a:sym typeface="Times Roman"/>
              </a:defRPr>
            </a:pPr>
            <a:r>
              <a:t>do you actually need</a:t>
            </a:r>
          </a:p>
          <a:p>
            <a:pPr algn="l" defTabSz="821531">
              <a:defRPr sz="3600">
                <a:solidFill>
                  <a:srgbClr val="000B29"/>
                </a:solidFill>
                <a:latin typeface="Times Roman"/>
                <a:ea typeface="Times Roman"/>
                <a:cs typeface="Times Roman"/>
                <a:sym typeface="Times Roman"/>
              </a:defRPr>
            </a:pPr>
          </a:p>
          <a:p>
            <a:pPr algn="l" defTabSz="821531">
              <a:defRPr sz="3600">
                <a:solidFill>
                  <a:srgbClr val="000B29"/>
                </a:solidFill>
                <a:latin typeface="Times Roman"/>
                <a:ea typeface="Times Roman"/>
                <a:cs typeface="Times Roman"/>
                <a:sym typeface="Times Roman"/>
              </a:defRPr>
            </a:pPr>
            <a:r>
              <a:t>individual bullet points</a:t>
            </a:r>
          </a:p>
          <a:p>
            <a:pPr algn="l" defTabSz="821531">
              <a:defRPr sz="3600">
                <a:solidFill>
                  <a:srgbClr val="000B29"/>
                </a:solidFill>
                <a:latin typeface="Times Roman"/>
                <a:ea typeface="Times Roman"/>
                <a:cs typeface="Times Roman"/>
                <a:sym typeface="Times Roman"/>
              </a:defRPr>
            </a:pPr>
          </a:p>
          <a:p>
            <a:pPr algn="l" defTabSz="821531">
              <a:defRPr sz="3600">
                <a:solidFill>
                  <a:srgbClr val="000B29"/>
                </a:solidFill>
                <a:latin typeface="Times Roman"/>
                <a:ea typeface="Times Roman"/>
                <a:cs typeface="Times Roman"/>
                <a:sym typeface="Times Roman"/>
              </a:defRPr>
            </a:pPr>
            <a:r>
              <a:t>to separate different thoughts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sp>
        <p:nvSpPr>
          <p:cNvPr id="202"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pic>
        <p:nvPicPr>
          <p:cNvPr id="203" name="51QGYbgmb5L._SX348_BO1,204,203,200_.jpg" descr="51QGYbgmb5L._SX348_BO1,204,203,200_.jpg"/>
          <p:cNvPicPr>
            <a:picLocks noChangeAspect="1"/>
          </p:cNvPicPr>
          <p:nvPr/>
        </p:nvPicPr>
        <p:blipFill>
          <a:blip r:embed="rId2">
            <a:extLst/>
          </a:blip>
          <a:stretch>
            <a:fillRect/>
          </a:stretch>
        </p:blipFill>
        <p:spPr>
          <a:xfrm>
            <a:off x="1257300" y="2196703"/>
            <a:ext cx="7678815" cy="1094779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Proximity"/>
          <p:cNvSpPr txBox="1"/>
          <p:nvPr/>
        </p:nvSpPr>
        <p:spPr>
          <a:xfrm>
            <a:off x="1257300" y="2413881"/>
            <a:ext cx="2801620"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Proximity</a:t>
            </a:r>
          </a:p>
        </p:txBody>
      </p:sp>
      <p:sp>
        <p:nvSpPr>
          <p:cNvPr id="206"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pic>
        <p:nvPicPr>
          <p:cNvPr id="207" name="blog-design-principle-2.png" descr="blog-design-principle-2.png"/>
          <p:cNvPicPr>
            <a:picLocks noChangeAspect="1"/>
          </p:cNvPicPr>
          <p:nvPr/>
        </p:nvPicPr>
        <p:blipFill>
          <a:blip r:embed="rId3">
            <a:extLst/>
          </a:blip>
          <a:stretch>
            <a:fillRect/>
          </a:stretch>
        </p:blipFill>
        <p:spPr>
          <a:xfrm>
            <a:off x="1257300" y="3565970"/>
            <a:ext cx="16187295" cy="9525001"/>
          </a:xfrm>
          <a:prstGeom prst="rect">
            <a:avLst/>
          </a:prstGeom>
          <a:ln w="12700">
            <a:miter lim="400000"/>
          </a:ln>
        </p:spPr>
      </p:pic>
      <p:sp>
        <p:nvSpPr>
          <p:cNvPr id="208"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Proximity"/>
          <p:cNvSpPr txBox="1"/>
          <p:nvPr/>
        </p:nvSpPr>
        <p:spPr>
          <a:xfrm>
            <a:off x="1257300" y="2413881"/>
            <a:ext cx="2801620"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Proximity</a:t>
            </a:r>
          </a:p>
        </p:txBody>
      </p:sp>
      <p:sp>
        <p:nvSpPr>
          <p:cNvPr id="213"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pic>
        <p:nvPicPr>
          <p:cNvPr id="214" name="blog-design-principle-3.png" descr="blog-design-principle-3.png"/>
          <p:cNvPicPr>
            <a:picLocks noChangeAspect="1"/>
          </p:cNvPicPr>
          <p:nvPr/>
        </p:nvPicPr>
        <p:blipFill>
          <a:blip r:embed="rId2">
            <a:extLst/>
          </a:blip>
          <a:stretch>
            <a:fillRect/>
          </a:stretch>
        </p:blipFill>
        <p:spPr>
          <a:xfrm>
            <a:off x="1257300" y="3565970"/>
            <a:ext cx="16202853" cy="9525001"/>
          </a:xfrm>
          <a:prstGeom prst="rect">
            <a:avLst/>
          </a:prstGeom>
          <a:ln w="12700">
            <a:miter lim="400000"/>
          </a:ln>
        </p:spPr>
      </p:pic>
      <p:sp>
        <p:nvSpPr>
          <p:cNvPr id="215"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Alignment"/>
          <p:cNvSpPr txBox="1"/>
          <p:nvPr/>
        </p:nvSpPr>
        <p:spPr>
          <a:xfrm>
            <a:off x="1257299" y="2413881"/>
            <a:ext cx="3002281"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Alignment</a:t>
            </a:r>
          </a:p>
        </p:txBody>
      </p:sp>
      <p:sp>
        <p:nvSpPr>
          <p:cNvPr id="218"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pic>
        <p:nvPicPr>
          <p:cNvPr id="219" name="blog-design-principle-4.png" descr="blog-design-principle-4.png"/>
          <p:cNvPicPr>
            <a:picLocks noChangeAspect="1"/>
          </p:cNvPicPr>
          <p:nvPr/>
        </p:nvPicPr>
        <p:blipFill>
          <a:blip r:embed="rId3">
            <a:extLst/>
          </a:blip>
          <a:srcRect l="3578" t="0" r="3578" b="0"/>
          <a:stretch>
            <a:fillRect/>
          </a:stretch>
        </p:blipFill>
        <p:spPr>
          <a:xfrm>
            <a:off x="1257300" y="5762625"/>
            <a:ext cx="21844000" cy="7376911"/>
          </a:xfrm>
          <a:prstGeom prst="rect">
            <a:avLst/>
          </a:prstGeom>
          <a:ln w="12700">
            <a:miter lim="400000"/>
          </a:ln>
        </p:spPr>
      </p:pic>
      <p:sp>
        <p:nvSpPr>
          <p:cNvPr id="220"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Alignment"/>
          <p:cNvSpPr txBox="1"/>
          <p:nvPr/>
        </p:nvSpPr>
        <p:spPr>
          <a:xfrm>
            <a:off x="1257299" y="2413881"/>
            <a:ext cx="3002281"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Alignment</a:t>
            </a:r>
          </a:p>
        </p:txBody>
      </p:sp>
      <p:sp>
        <p:nvSpPr>
          <p:cNvPr id="225"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pic>
        <p:nvPicPr>
          <p:cNvPr id="226" name="blog-design-principle-5.png" descr="blog-design-principle-5.png"/>
          <p:cNvPicPr>
            <a:picLocks noChangeAspect="1"/>
          </p:cNvPicPr>
          <p:nvPr/>
        </p:nvPicPr>
        <p:blipFill>
          <a:blip r:embed="rId2">
            <a:extLst/>
          </a:blip>
          <a:srcRect l="4739" t="0" r="4739" b="0"/>
          <a:stretch>
            <a:fillRect/>
          </a:stretch>
        </p:blipFill>
        <p:spPr>
          <a:xfrm>
            <a:off x="1257300" y="3565970"/>
            <a:ext cx="14733786" cy="9525001"/>
          </a:xfrm>
          <a:prstGeom prst="rect">
            <a:avLst/>
          </a:prstGeom>
          <a:ln w="12700">
            <a:miter lim="400000"/>
          </a:ln>
        </p:spPr>
      </p:pic>
      <p:sp>
        <p:nvSpPr>
          <p:cNvPr id="227"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Alignment"/>
          <p:cNvSpPr txBox="1"/>
          <p:nvPr/>
        </p:nvSpPr>
        <p:spPr>
          <a:xfrm>
            <a:off x="1257299" y="2413881"/>
            <a:ext cx="3002281"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Alignment</a:t>
            </a:r>
          </a:p>
        </p:txBody>
      </p:sp>
      <p:sp>
        <p:nvSpPr>
          <p:cNvPr id="230"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sp>
        <p:nvSpPr>
          <p:cNvPr id="231" name="Wong, Nature  Methods, 2010"/>
          <p:cNvSpPr txBox="1"/>
          <p:nvPr/>
        </p:nvSpPr>
        <p:spPr>
          <a:xfrm>
            <a:off x="19229120" y="13097977"/>
            <a:ext cx="3897581"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Wong, Nature  Methods, 2010</a:t>
            </a:r>
          </a:p>
        </p:txBody>
      </p:sp>
      <p:pic>
        <p:nvPicPr>
          <p:cNvPr id="232" name="nmeth.1711-F2.jpg" descr="nmeth.1711-F2.jpg"/>
          <p:cNvPicPr>
            <a:picLocks noChangeAspect="1"/>
          </p:cNvPicPr>
          <p:nvPr/>
        </p:nvPicPr>
        <p:blipFill>
          <a:blip r:embed="rId3">
            <a:extLst/>
          </a:blip>
          <a:srcRect l="6690" t="0" r="0" b="44887"/>
          <a:stretch>
            <a:fillRect/>
          </a:stretch>
        </p:blipFill>
        <p:spPr>
          <a:xfrm>
            <a:off x="1257299" y="3565971"/>
            <a:ext cx="15669584" cy="952500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Line"/>
          <p:cNvSpPr/>
          <p:nvPr/>
        </p:nvSpPr>
        <p:spPr>
          <a:xfrm>
            <a:off x="1270000" y="1905000"/>
            <a:ext cx="21844000" cy="0"/>
          </a:xfrm>
          <a:prstGeom prst="line">
            <a:avLst/>
          </a:prstGeom>
          <a:ln w="25400">
            <a:solidFill>
              <a:srgbClr val="000000"/>
            </a:solidFill>
            <a:miter lim="400000"/>
          </a:ln>
        </p:spPr>
        <p:txBody>
          <a:bodyPr lIns="71437" tIns="71437" rIns="71437" bIns="71437" anchor="ctr"/>
          <a:lstStyle/>
          <a:p>
            <a:pPr defTabSz="821531">
              <a:defRPr sz="3200">
                <a:solidFill>
                  <a:srgbClr val="000000"/>
                </a:solidFill>
                <a:latin typeface="Helvetica Light"/>
                <a:ea typeface="Helvetica Light"/>
                <a:cs typeface="Helvetica Light"/>
                <a:sym typeface="Helvetica Light"/>
              </a:defRPr>
            </a:pPr>
          </a:p>
        </p:txBody>
      </p:sp>
      <p:sp>
        <p:nvSpPr>
          <p:cNvPr id="237" name="Title text"/>
          <p:cNvSpPr txBox="1"/>
          <p:nvPr/>
        </p:nvSpPr>
        <p:spPr>
          <a:xfrm>
            <a:off x="1270000" y="518113"/>
            <a:ext cx="5315687"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Title text</a:t>
            </a:r>
          </a:p>
        </p:txBody>
      </p:sp>
      <p:sp>
        <p:nvSpPr>
          <p:cNvPr id="238" name="Line"/>
          <p:cNvSpPr/>
          <p:nvPr/>
        </p:nvSpPr>
        <p:spPr>
          <a:xfrm flipH="1">
            <a:off x="1269999" y="0"/>
            <a:ext cx="2" cy="14287500"/>
          </a:xfrm>
          <a:prstGeom prst="line">
            <a:avLst/>
          </a:prstGeom>
          <a:ln w="25400">
            <a:solidFill>
              <a:srgbClr val="000000"/>
            </a:solidFill>
            <a:miter lim="400000"/>
          </a:ln>
        </p:spPr>
        <p:txBody>
          <a:bodyPr lIns="71437" tIns="71437" rIns="71437" bIns="71437" anchor="ctr"/>
          <a:lstStyle/>
          <a:p>
            <a:pPr defTabSz="821531">
              <a:defRPr sz="3200">
                <a:solidFill>
                  <a:srgbClr val="000000"/>
                </a:solidFill>
                <a:latin typeface="Helvetica Light"/>
                <a:ea typeface="Helvetica Light"/>
                <a:cs typeface="Helvetica Light"/>
                <a:sym typeface="Helvetica Light"/>
              </a:defRPr>
            </a:pPr>
          </a:p>
        </p:txBody>
      </p:sp>
      <p:sp>
        <p:nvSpPr>
          <p:cNvPr id="239" name="Subtitle text"/>
          <p:cNvSpPr txBox="1"/>
          <p:nvPr/>
        </p:nvSpPr>
        <p:spPr>
          <a:xfrm>
            <a:off x="1257300" y="2413881"/>
            <a:ext cx="3566160"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Subtitle text</a:t>
            </a:r>
          </a:p>
        </p:txBody>
      </p:sp>
      <p:sp>
        <p:nvSpPr>
          <p:cNvPr id="240" name="Line"/>
          <p:cNvSpPr/>
          <p:nvPr/>
        </p:nvSpPr>
        <p:spPr>
          <a:xfrm flipH="1">
            <a:off x="23113999" y="0"/>
            <a:ext cx="1" cy="14466094"/>
          </a:xfrm>
          <a:prstGeom prst="line">
            <a:avLst/>
          </a:prstGeom>
          <a:ln w="25400">
            <a:solidFill>
              <a:srgbClr val="000000"/>
            </a:solidFill>
            <a:miter lim="400000"/>
          </a:ln>
        </p:spPr>
        <p:txBody>
          <a:bodyPr lIns="71437" tIns="71437" rIns="71437" bIns="71437" anchor="ctr"/>
          <a:lstStyle/>
          <a:p>
            <a:pPr defTabSz="821531">
              <a:defRPr sz="3200">
                <a:solidFill>
                  <a:srgbClr val="000000"/>
                </a:solidFill>
                <a:latin typeface="Helvetica Light"/>
                <a:ea typeface="Helvetica Light"/>
                <a:cs typeface="Helvetica Light"/>
                <a:sym typeface="Helvetica Light"/>
              </a:defRPr>
            </a:pPr>
          </a:p>
        </p:txBody>
      </p:sp>
      <p:sp>
        <p:nvSpPr>
          <p:cNvPr id="241" name="Line"/>
          <p:cNvSpPr/>
          <p:nvPr/>
        </p:nvSpPr>
        <p:spPr>
          <a:xfrm>
            <a:off x="1270000" y="13126640"/>
            <a:ext cx="21844001" cy="1"/>
          </a:xfrm>
          <a:prstGeom prst="line">
            <a:avLst/>
          </a:prstGeom>
          <a:ln w="25400">
            <a:solidFill>
              <a:srgbClr val="000000"/>
            </a:solidFill>
            <a:miter lim="400000"/>
          </a:ln>
        </p:spPr>
        <p:txBody>
          <a:bodyPr lIns="71437" tIns="71437" rIns="71437" bIns="71437" anchor="ctr"/>
          <a:lstStyle/>
          <a:p>
            <a:pPr defTabSz="821531">
              <a:defRPr sz="3200">
                <a:solidFill>
                  <a:srgbClr val="000000"/>
                </a:solidFill>
                <a:latin typeface="Helvetica Light"/>
                <a:ea typeface="Helvetica Light"/>
                <a:cs typeface="Helvetica Light"/>
                <a:sym typeface="Helvetica Light"/>
              </a:defRPr>
            </a:pPr>
          </a:p>
        </p:txBody>
      </p:sp>
      <p:sp>
        <p:nvSpPr>
          <p:cNvPr id="242" name="References 19"/>
          <p:cNvSpPr txBox="1"/>
          <p:nvPr/>
        </p:nvSpPr>
        <p:spPr>
          <a:xfrm>
            <a:off x="21175421" y="13097977"/>
            <a:ext cx="1951279"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References 19</a:t>
            </a:r>
          </a:p>
        </p:txBody>
      </p:sp>
      <p:sp>
        <p:nvSpPr>
          <p:cNvPr id="243" name="Comments on the Figs…"/>
          <p:cNvSpPr txBox="1"/>
          <p:nvPr/>
        </p:nvSpPr>
        <p:spPr>
          <a:xfrm>
            <a:off x="18661856" y="4527946"/>
            <a:ext cx="4464844" cy="6696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algn="r" defTabSz="821531">
              <a:defRPr sz="3600">
                <a:solidFill>
                  <a:srgbClr val="000B29"/>
                </a:solidFill>
                <a:latin typeface="Times Roman"/>
                <a:ea typeface="Times Roman"/>
                <a:cs typeface="Times Roman"/>
                <a:sym typeface="Times Roman"/>
              </a:defRPr>
            </a:pPr>
            <a:r>
              <a:t>Comments on the Figs</a:t>
            </a:r>
          </a:p>
          <a:p>
            <a:pPr algn="r" defTabSz="821531">
              <a:defRPr sz="3600">
                <a:solidFill>
                  <a:srgbClr val="000B29"/>
                </a:solidFill>
                <a:latin typeface="Times Roman"/>
                <a:ea typeface="Times Roman"/>
                <a:cs typeface="Times Roman"/>
                <a:sym typeface="Times Roman"/>
              </a:defRPr>
            </a:pPr>
            <a:r>
              <a:t>Comments on the Figs</a:t>
            </a:r>
          </a:p>
          <a:p>
            <a:pPr algn="r" defTabSz="821531">
              <a:defRPr sz="3600">
                <a:solidFill>
                  <a:srgbClr val="000B29"/>
                </a:solidFill>
                <a:latin typeface="Times Roman"/>
                <a:ea typeface="Times Roman"/>
                <a:cs typeface="Times Roman"/>
                <a:sym typeface="Times Roman"/>
              </a:defRPr>
            </a:pPr>
            <a:r>
              <a:t>Comments on the Figs</a:t>
            </a:r>
          </a:p>
          <a:p>
            <a:pPr algn="r" defTabSz="821531">
              <a:defRPr sz="3600">
                <a:solidFill>
                  <a:srgbClr val="000B29"/>
                </a:solidFill>
                <a:latin typeface="Times Roman"/>
                <a:ea typeface="Times Roman"/>
                <a:cs typeface="Times Roman"/>
                <a:sym typeface="Times Roman"/>
              </a:defRPr>
            </a:pPr>
          </a:p>
          <a:p>
            <a:pPr algn="r" defTabSz="821531">
              <a:defRPr sz="3600">
                <a:solidFill>
                  <a:srgbClr val="000B29"/>
                </a:solidFill>
                <a:latin typeface="Times Roman"/>
                <a:ea typeface="Times Roman"/>
                <a:cs typeface="Times Roman"/>
                <a:sym typeface="Times Roman"/>
              </a:defRPr>
            </a:pPr>
            <a:r>
              <a:t>Comments on the Figs</a:t>
            </a:r>
          </a:p>
          <a:p>
            <a:pPr algn="r" defTabSz="821531">
              <a:defRPr sz="3600">
                <a:solidFill>
                  <a:srgbClr val="000B29"/>
                </a:solidFill>
                <a:latin typeface="Times Roman"/>
                <a:ea typeface="Times Roman"/>
                <a:cs typeface="Times Roman"/>
                <a:sym typeface="Times Roman"/>
              </a:defRPr>
            </a:pPr>
          </a:p>
          <a:p>
            <a:pPr algn="r" defTabSz="821531">
              <a:defRPr sz="3600">
                <a:solidFill>
                  <a:srgbClr val="000B29"/>
                </a:solidFill>
                <a:latin typeface="Times Roman"/>
                <a:ea typeface="Times Roman"/>
                <a:cs typeface="Times Roman"/>
                <a:sym typeface="Times Roman"/>
              </a:defRPr>
            </a:pPr>
          </a:p>
          <a:p>
            <a:pPr algn="r" defTabSz="821531">
              <a:defRPr sz="3600">
                <a:solidFill>
                  <a:srgbClr val="000B29"/>
                </a:solidFill>
                <a:latin typeface="Times Roman"/>
                <a:ea typeface="Times Roman"/>
                <a:cs typeface="Times Roman"/>
                <a:sym typeface="Times Roman"/>
              </a:defRPr>
            </a:pPr>
            <a:r>
              <a:t>Comments on the Figs</a:t>
            </a:r>
          </a:p>
          <a:p>
            <a:pPr algn="r" defTabSz="821531">
              <a:defRPr sz="3600">
                <a:solidFill>
                  <a:srgbClr val="000B29"/>
                </a:solidFill>
                <a:latin typeface="Times Roman"/>
                <a:ea typeface="Times Roman"/>
                <a:cs typeface="Times Roman"/>
                <a:sym typeface="Times Roman"/>
              </a:defRPr>
            </a:pPr>
          </a:p>
          <a:p>
            <a:pPr algn="r" defTabSz="821531">
              <a:defRPr sz="3600">
                <a:solidFill>
                  <a:srgbClr val="000B29"/>
                </a:solidFill>
                <a:latin typeface="Times Roman"/>
                <a:ea typeface="Times Roman"/>
                <a:cs typeface="Times Roman"/>
                <a:sym typeface="Times Roman"/>
              </a:defRPr>
            </a:pPr>
          </a:p>
          <a:p>
            <a:pPr algn="r" defTabSz="821531">
              <a:defRPr sz="3600">
                <a:solidFill>
                  <a:srgbClr val="000B29"/>
                </a:solidFill>
                <a:latin typeface="Times Roman"/>
                <a:ea typeface="Times Roman"/>
                <a:cs typeface="Times Roman"/>
                <a:sym typeface="Times Roman"/>
              </a:defRPr>
            </a:pPr>
            <a:r>
              <a:t>Comments on the Figs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Repetition"/>
          <p:cNvSpPr txBox="1"/>
          <p:nvPr/>
        </p:nvSpPr>
        <p:spPr>
          <a:xfrm>
            <a:off x="1257300" y="2413881"/>
            <a:ext cx="3048635"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Repetition</a:t>
            </a:r>
          </a:p>
        </p:txBody>
      </p:sp>
      <p:sp>
        <p:nvSpPr>
          <p:cNvPr id="246"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pic>
        <p:nvPicPr>
          <p:cNvPr id="247" name="blog-design-principle-6.png" descr="blog-design-principle-6.png"/>
          <p:cNvPicPr>
            <a:picLocks noChangeAspect="1"/>
          </p:cNvPicPr>
          <p:nvPr/>
        </p:nvPicPr>
        <p:blipFill>
          <a:blip r:embed="rId3">
            <a:extLst/>
          </a:blip>
          <a:stretch>
            <a:fillRect/>
          </a:stretch>
        </p:blipFill>
        <p:spPr>
          <a:xfrm>
            <a:off x="1257300" y="3565970"/>
            <a:ext cx="8728541" cy="9525001"/>
          </a:xfrm>
          <a:prstGeom prst="rect">
            <a:avLst/>
          </a:prstGeom>
          <a:ln w="12700">
            <a:miter lim="400000"/>
          </a:ln>
        </p:spPr>
      </p:pic>
      <p:sp>
        <p:nvSpPr>
          <p:cNvPr id="248"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Contrast"/>
          <p:cNvSpPr txBox="1"/>
          <p:nvPr/>
        </p:nvSpPr>
        <p:spPr>
          <a:xfrm>
            <a:off x="1257300" y="2413881"/>
            <a:ext cx="2601596"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Contrast</a:t>
            </a:r>
          </a:p>
        </p:txBody>
      </p:sp>
      <p:sp>
        <p:nvSpPr>
          <p:cNvPr id="253"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pic>
        <p:nvPicPr>
          <p:cNvPr id="254" name="blog-design-principle-8.png" descr="blog-design-principle-8.png"/>
          <p:cNvPicPr>
            <a:picLocks noChangeAspect="1"/>
          </p:cNvPicPr>
          <p:nvPr/>
        </p:nvPicPr>
        <p:blipFill>
          <a:blip r:embed="rId3">
            <a:extLst/>
          </a:blip>
          <a:stretch>
            <a:fillRect/>
          </a:stretch>
        </p:blipFill>
        <p:spPr>
          <a:xfrm>
            <a:off x="1257300" y="3565970"/>
            <a:ext cx="12862821" cy="9525001"/>
          </a:xfrm>
          <a:prstGeom prst="rect">
            <a:avLst/>
          </a:prstGeom>
          <a:ln w="12700">
            <a:miter lim="400000"/>
          </a:ln>
        </p:spPr>
      </p:pic>
      <p:sp>
        <p:nvSpPr>
          <p:cNvPr id="255"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Contrast"/>
          <p:cNvSpPr txBox="1"/>
          <p:nvPr/>
        </p:nvSpPr>
        <p:spPr>
          <a:xfrm>
            <a:off x="1257300" y="2413881"/>
            <a:ext cx="2601596"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Contrast</a:t>
            </a:r>
          </a:p>
        </p:txBody>
      </p:sp>
      <p:sp>
        <p:nvSpPr>
          <p:cNvPr id="260" name="Four Principals of Design"/>
          <p:cNvSpPr txBox="1"/>
          <p:nvPr/>
        </p:nvSpPr>
        <p:spPr>
          <a:xfrm>
            <a:off x="1257300" y="518113"/>
            <a:ext cx="15087042" cy="1630774"/>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497D7A"/>
                </a:solidFill>
              </a:defRPr>
            </a:lvl1pPr>
          </a:lstStyle>
          <a:p>
            <a:pPr/>
            <a:r>
              <a:t>Four Principals of Design</a:t>
            </a:r>
          </a:p>
        </p:txBody>
      </p:sp>
      <p:pic>
        <p:nvPicPr>
          <p:cNvPr id="261" name="nmeth0411-277-F1.jpg" descr="nmeth0411-277-F1.jpg"/>
          <p:cNvPicPr>
            <a:picLocks noChangeAspect="1"/>
          </p:cNvPicPr>
          <p:nvPr/>
        </p:nvPicPr>
        <p:blipFill>
          <a:blip r:embed="rId3">
            <a:extLst/>
          </a:blip>
          <a:stretch>
            <a:fillRect/>
          </a:stretch>
        </p:blipFill>
        <p:spPr>
          <a:xfrm>
            <a:off x="1257300" y="6982446"/>
            <a:ext cx="21844000" cy="6156896"/>
          </a:xfrm>
          <a:prstGeom prst="rect">
            <a:avLst/>
          </a:prstGeom>
          <a:ln w="12700">
            <a:miter lim="400000"/>
          </a:ln>
        </p:spPr>
      </p:pic>
      <p:sp>
        <p:nvSpPr>
          <p:cNvPr id="262"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Contrast"/>
          <p:cNvSpPr txBox="1"/>
          <p:nvPr/>
        </p:nvSpPr>
        <p:spPr>
          <a:xfrm>
            <a:off x="1257300" y="2413881"/>
            <a:ext cx="2601596" cy="88709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sz="5000">
                <a:solidFill>
                  <a:srgbClr val="000B29"/>
                </a:solidFill>
              </a:defRPr>
            </a:lvl1pPr>
          </a:lstStyle>
          <a:p>
            <a:pPr/>
            <a:r>
              <a:t>Contrast</a:t>
            </a:r>
          </a:p>
        </p:txBody>
      </p:sp>
      <p:sp>
        <p:nvSpPr>
          <p:cNvPr id="267" name="Four Principals of Design"/>
          <p:cNvSpPr txBox="1"/>
          <p:nvPr/>
        </p:nvSpPr>
        <p:spPr>
          <a:xfrm>
            <a:off x="1257300" y="518113"/>
            <a:ext cx="15087042" cy="1630774"/>
          </a:xfrm>
          <a:prstGeom prst="rect">
            <a:avLst/>
          </a:prstGeom>
          <a:solidFill>
            <a:srgbClr val="497D7A"/>
          </a:solidFill>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defRPr b="1" sz="9800">
                <a:solidFill>
                  <a:srgbClr val="FFFFFF"/>
                </a:solidFill>
              </a:defRPr>
            </a:lvl1pPr>
          </a:lstStyle>
          <a:p>
            <a:pPr/>
            <a:r>
              <a:t>Four Principals of Design</a:t>
            </a:r>
          </a:p>
        </p:txBody>
      </p:sp>
      <p:pic>
        <p:nvPicPr>
          <p:cNvPr id="268" name="blog-design-principle-10.png" descr="blog-design-principle-10.png"/>
          <p:cNvPicPr>
            <a:picLocks noChangeAspect="1"/>
          </p:cNvPicPr>
          <p:nvPr/>
        </p:nvPicPr>
        <p:blipFill>
          <a:blip r:embed="rId3">
            <a:extLst/>
          </a:blip>
          <a:stretch>
            <a:fillRect/>
          </a:stretch>
        </p:blipFill>
        <p:spPr>
          <a:xfrm>
            <a:off x="1257300" y="3565970"/>
            <a:ext cx="11678161" cy="9525001"/>
          </a:xfrm>
          <a:prstGeom prst="rect">
            <a:avLst/>
          </a:prstGeom>
          <a:ln w="12700">
            <a:miter lim="400000"/>
          </a:ln>
        </p:spPr>
      </p:pic>
      <p:sp>
        <p:nvSpPr>
          <p:cNvPr id="269" name="The Non-designers Design Book, by Robin Williams"/>
          <p:cNvSpPr txBox="1"/>
          <p:nvPr/>
        </p:nvSpPr>
        <p:spPr>
          <a:xfrm>
            <a:off x="16549674" y="13097977"/>
            <a:ext cx="6577026"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algn="r" defTabSz="821531">
              <a:defRPr sz="2200">
                <a:solidFill>
                  <a:srgbClr val="497D7A"/>
                </a:solidFill>
              </a:defRPr>
            </a:pPr>
            <a:r>
              <a:rPr i="1"/>
              <a:t>The Non-designers Design Book, </a:t>
            </a:r>
            <a:r>
              <a:t>by Robin Williams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Building Better Slides…"/>
          <p:cNvSpPr txBox="1"/>
          <p:nvPr/>
        </p:nvSpPr>
        <p:spPr>
          <a:xfrm>
            <a:off x="5167477" y="-220074"/>
            <a:ext cx="14049046" cy="315477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defTabSz="821531">
              <a:defRPr b="1" sz="9800">
                <a:solidFill>
                  <a:srgbClr val="497D7A"/>
                </a:solidFill>
              </a:defRPr>
            </a:pPr>
            <a:r>
              <a:t>Building Better Slides</a:t>
            </a:r>
          </a:p>
          <a:p>
            <a:pPr defTabSz="821531">
              <a:defRPr b="1" sz="9800">
                <a:solidFill>
                  <a:srgbClr val="497D7A"/>
                </a:solidFill>
              </a:defRPr>
            </a:pPr>
            <a:r>
              <a:t>via Principles of Design</a:t>
            </a:r>
          </a:p>
        </p:txBody>
      </p:sp>
      <p:pic>
        <p:nvPicPr>
          <p:cNvPr id="274" name="iu.png" descr="iu.png"/>
          <p:cNvPicPr>
            <a:picLocks noChangeAspect="1"/>
          </p:cNvPicPr>
          <p:nvPr/>
        </p:nvPicPr>
        <p:blipFill>
          <a:blip r:embed="rId2">
            <a:extLst/>
          </a:blip>
          <a:stretch>
            <a:fillRect/>
          </a:stretch>
        </p:blipFill>
        <p:spPr>
          <a:xfrm>
            <a:off x="9097536" y="4167316"/>
            <a:ext cx="6188928" cy="6188929"/>
          </a:xfrm>
          <a:prstGeom prst="rect">
            <a:avLst/>
          </a:prstGeom>
          <a:ln w="12700">
            <a:miter lim="400000"/>
          </a:ln>
        </p:spPr>
      </p:pic>
      <p:sp>
        <p:nvSpPr>
          <p:cNvPr id="275" name="© Apple"/>
          <p:cNvSpPr txBox="1"/>
          <p:nvPr/>
        </p:nvSpPr>
        <p:spPr>
          <a:xfrm>
            <a:off x="14105211" y="10169039"/>
            <a:ext cx="1181253" cy="477953"/>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r" defTabSz="821531">
              <a:defRPr sz="2200">
                <a:solidFill>
                  <a:srgbClr val="497D7A"/>
                </a:solidFill>
              </a:defRPr>
            </a:lvl1pPr>
          </a:lstStyle>
          <a:p>
            <a:pPr/>
            <a:r>
              <a:t>© Apple</a:t>
            </a:r>
          </a:p>
        </p:txBody>
      </p:sp>
      <p:sp>
        <p:nvSpPr>
          <p:cNvPr id="276" name="Adam A Miller…"/>
          <p:cNvSpPr txBox="1"/>
          <p:nvPr/>
        </p:nvSpPr>
        <p:spPr>
          <a:xfrm>
            <a:off x="8314841" y="11000581"/>
            <a:ext cx="7754318" cy="20732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defTabSz="821531">
              <a:defRPr sz="3200">
                <a:solidFill>
                  <a:srgbClr val="000B29"/>
                </a:solidFill>
                <a:latin typeface="Times Roman"/>
                <a:ea typeface="Times Roman"/>
                <a:cs typeface="Times Roman"/>
                <a:sym typeface="Times Roman"/>
              </a:defRPr>
            </a:pPr>
            <a:r>
              <a:t>Adam A Miller</a:t>
            </a:r>
          </a:p>
          <a:p>
            <a:pPr defTabSz="821531">
              <a:defRPr sz="3200">
                <a:solidFill>
                  <a:srgbClr val="000B29"/>
                </a:solidFill>
                <a:latin typeface="Times Roman"/>
                <a:ea typeface="Times Roman"/>
                <a:cs typeface="Times Roman"/>
                <a:sym typeface="Times Roman"/>
              </a:defRPr>
            </a:pPr>
            <a:r>
              <a:t>Northwestern/CIERA/SkAI</a:t>
            </a:r>
          </a:p>
          <a:p>
            <a:pPr defTabSz="821531">
              <a:defRPr sz="3200">
                <a:solidFill>
                  <a:srgbClr val="000B29"/>
                </a:solidFill>
                <a:latin typeface="Times Roman"/>
                <a:ea typeface="Times Roman"/>
                <a:cs typeface="Times Roman"/>
                <a:sym typeface="Times Roman"/>
              </a:defRPr>
            </a:pPr>
            <a:r>
              <a:t>LSST-DA DSFP Session 26</a:t>
            </a:r>
          </a:p>
          <a:p>
            <a:pPr defTabSz="821531">
              <a:defRPr sz="3200">
                <a:solidFill>
                  <a:srgbClr val="000B29"/>
                </a:solidFill>
                <a:latin typeface="Times Roman"/>
                <a:ea typeface="Times Roman"/>
                <a:cs typeface="Times Roman"/>
                <a:sym typeface="Times Roman"/>
              </a:defRPr>
            </a:pPr>
            <a:r>
              <a:t>25 August 2026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